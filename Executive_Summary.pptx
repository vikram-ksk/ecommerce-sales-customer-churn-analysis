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2" d="100"/>
          <a:sy n="52" d="100"/>
        </p:scale>
        <p:origin x="48" y="7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6383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121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Sales Performance &amp; Customer Churn Analysis</a:t>
            </a:r>
            <a:endParaRPr lang="en-US" sz="2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43C2A9-6FAC-7D6D-E7D1-702C52FC7D5B}"/>
              </a:ext>
            </a:extLst>
          </p:cNvPr>
          <p:cNvSpPr txBox="1"/>
          <p:nvPr/>
        </p:nvSpPr>
        <p:spPr>
          <a:xfrm>
            <a:off x="457200" y="777523"/>
            <a:ext cx="104601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Objective </a:t>
            </a:r>
          </a:p>
          <a:p>
            <a:br>
              <a:rPr lang="en-US" sz="1600" dirty="0"/>
            </a:br>
            <a:r>
              <a:rPr lang="en-US" sz="1400" dirty="0"/>
              <a:t>Analyze sales performance, customer value, retention behavior, and churn risk to identify opportunities for revenue growth and customer retention.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CA44FA-F3B2-3531-57E0-5FCA40CF0937}"/>
              </a:ext>
            </a:extLst>
          </p:cNvPr>
          <p:cNvSpPr txBox="1"/>
          <p:nvPr/>
        </p:nvSpPr>
        <p:spPr>
          <a:xfrm>
            <a:off x="457200" y="1866698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Key Performance Indicators</a:t>
            </a:r>
          </a:p>
          <a:p>
            <a:pPr>
              <a:buNone/>
            </a:pPr>
            <a:endParaRPr lang="en-US" sz="14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Total Sales:</a:t>
            </a:r>
            <a:r>
              <a:rPr lang="en-US" sz="1400" dirty="0"/>
              <a:t> 2.30M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Total Profit:</a:t>
            </a:r>
            <a:r>
              <a:rPr lang="en-US" sz="1400" dirty="0"/>
              <a:t> 286.40K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Total Orders:</a:t>
            </a:r>
            <a:r>
              <a:rPr lang="en-US" sz="1400" dirty="0"/>
              <a:t> 5.009K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Total Customers:</a:t>
            </a:r>
            <a:r>
              <a:rPr lang="en-US" sz="1400" dirty="0"/>
              <a:t> 793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Average Sales:</a:t>
            </a:r>
            <a:r>
              <a:rPr lang="en-US" sz="1400" dirty="0"/>
              <a:t> 229.86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8E1C6B-CE29-A707-A0C4-B5F3D96321E7}"/>
              </a:ext>
            </a:extLst>
          </p:cNvPr>
          <p:cNvSpPr txBox="1"/>
          <p:nvPr/>
        </p:nvSpPr>
        <p:spPr>
          <a:xfrm>
            <a:off x="457200" y="3540648"/>
            <a:ext cx="5480304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Sales Performance Highlights</a:t>
            </a:r>
          </a:p>
          <a:p>
            <a:pPr>
              <a:buNone/>
            </a:pPr>
            <a:endParaRPr lang="en-US" sz="14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Sales show an </a:t>
            </a:r>
            <a:r>
              <a:rPr lang="en-US" sz="1400" b="1" dirty="0"/>
              <a:t>overall increasing trend from 2014 to 2017</a:t>
            </a:r>
            <a:r>
              <a:rPr lang="en-US" sz="1400" dirty="0"/>
              <a:t>, with stronger performance in the later years.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Technology</a:t>
            </a:r>
            <a:r>
              <a:rPr lang="en-US" sz="1400" dirty="0"/>
              <a:t> is the highest-selling category with approximately </a:t>
            </a:r>
            <a:r>
              <a:rPr lang="en-US" sz="1400" b="1" dirty="0"/>
              <a:t>836.15K (36.4%)</a:t>
            </a:r>
            <a:r>
              <a:rPr lang="en-US" sz="1400" dirty="0"/>
              <a:t> of sales.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Furniture</a:t>
            </a:r>
            <a:r>
              <a:rPr lang="en-US" sz="1400" dirty="0"/>
              <a:t> contributes approximately </a:t>
            </a:r>
            <a:r>
              <a:rPr lang="en-US" sz="1400" b="1" dirty="0"/>
              <a:t>742K (32.3%)</a:t>
            </a:r>
            <a:r>
              <a:rPr lang="en-US" sz="1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Office Supplies</a:t>
            </a:r>
            <a:r>
              <a:rPr lang="en-US" sz="1400" dirty="0"/>
              <a:t> contributes approximately </a:t>
            </a:r>
            <a:r>
              <a:rPr lang="en-US" sz="1400" b="1" dirty="0"/>
              <a:t>719.05K (31.3%)</a:t>
            </a:r>
            <a:r>
              <a:rPr lang="en-US" sz="1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West</a:t>
            </a:r>
            <a:r>
              <a:rPr lang="en-US" sz="1400" dirty="0"/>
              <a:t> is the highest-performing region based on total sales.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Canon </a:t>
            </a:r>
            <a:r>
              <a:rPr lang="en-US" sz="1400" b="1" dirty="0" err="1"/>
              <a:t>imageCLASS</a:t>
            </a:r>
            <a:r>
              <a:rPr lang="en-US" sz="1400" b="1" dirty="0"/>
              <a:t> 2200 Advanced Copier</a:t>
            </a:r>
            <a:r>
              <a:rPr lang="en-US" sz="1400" dirty="0"/>
              <a:t> is the top-selling product</a:t>
            </a: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C1CF9302-4C7C-7399-C113-32DB235A1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739658"/>
              </p:ext>
            </p:extLst>
          </p:nvPr>
        </p:nvGraphicFramePr>
        <p:xfrm>
          <a:off x="6708648" y="4556311"/>
          <a:ext cx="5026152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3076">
                  <a:extLst>
                    <a:ext uri="{9D8B030D-6E8A-4147-A177-3AD203B41FA5}">
                      <a16:colId xmlns:a16="http://schemas.microsoft.com/office/drawing/2014/main" val="489598987"/>
                    </a:ext>
                  </a:extLst>
                </a:gridCol>
                <a:gridCol w="2513076">
                  <a:extLst>
                    <a:ext uri="{9D8B030D-6E8A-4147-A177-3AD203B41FA5}">
                      <a16:colId xmlns:a16="http://schemas.microsoft.com/office/drawing/2014/main" val="3908335843"/>
                    </a:ext>
                  </a:extLst>
                </a:gridCol>
              </a:tblGrid>
              <a:tr h="1933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Customer Segment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Revenue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039104"/>
                  </a:ext>
                </a:extLst>
              </a:tr>
              <a:tr h="1933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Loyal 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649.62K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2815145"/>
                  </a:ext>
                </a:extLst>
              </a:tr>
              <a:tr h="1933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Champions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560.50K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5812205"/>
                  </a:ext>
                </a:extLst>
              </a:tr>
              <a:tr h="1933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At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497.50K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1938831"/>
                  </a:ext>
                </a:extLst>
              </a:tr>
              <a:tr h="1933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Potential Loyalists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337.26K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906176"/>
                  </a:ext>
                </a:extLst>
              </a:tr>
              <a:tr h="1933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New 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159.39K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4470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92.93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8844858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6BAC6597-B0FE-B661-2EE9-B6DF9363C80B}"/>
              </a:ext>
            </a:extLst>
          </p:cNvPr>
          <p:cNvSpPr txBox="1"/>
          <p:nvPr/>
        </p:nvSpPr>
        <p:spPr>
          <a:xfrm>
            <a:off x="6658564" y="3540648"/>
            <a:ext cx="50261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Customer Value – RFM Analysis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400" dirty="0"/>
              <a:t>RFM segmentation was used to classify customers based on </a:t>
            </a:r>
            <a:r>
              <a:rPr lang="en-US" sz="1400" b="1" dirty="0"/>
              <a:t>Recency, Frequency, and Monetary value</a:t>
            </a:r>
            <a:r>
              <a:rPr lang="en-US" sz="1400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9434769-F4EB-7B59-56F2-56C6473E7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754" y="3170903"/>
            <a:ext cx="6084422" cy="342691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BB3BA23-E019-1524-B4F7-25045C6BAE58}"/>
              </a:ext>
            </a:extLst>
          </p:cNvPr>
          <p:cNvSpPr txBox="1"/>
          <p:nvPr/>
        </p:nvSpPr>
        <p:spPr>
          <a:xfrm>
            <a:off x="320778" y="3673943"/>
            <a:ext cx="5298358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Business Recommendations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200" b="1" dirty="0"/>
              <a:t>1. At Risk Customers</a:t>
            </a:r>
            <a:br>
              <a:rPr lang="en-US" sz="1200" dirty="0"/>
            </a:br>
            <a:r>
              <a:rPr lang="en-US" sz="1200" dirty="0"/>
              <a:t>Launch personalized offers and re-engagement campaigns before customers become Lost.</a:t>
            </a:r>
          </a:p>
          <a:p>
            <a:pPr>
              <a:buNone/>
            </a:pPr>
            <a:r>
              <a:rPr lang="en-US" sz="1200" b="1" dirty="0"/>
              <a:t>2. Loyal &amp; Champion Customers</a:t>
            </a:r>
            <a:br>
              <a:rPr lang="en-US" sz="1200" dirty="0"/>
            </a:br>
            <a:r>
              <a:rPr lang="en-US" sz="1200" dirty="0"/>
              <a:t>Strengthen loyalty programs, cross-selling, bundles, and personalized recommendations.</a:t>
            </a:r>
          </a:p>
          <a:p>
            <a:pPr>
              <a:buNone/>
            </a:pPr>
            <a:r>
              <a:rPr lang="en-US" sz="1200" b="1" dirty="0"/>
              <a:t>3. Lost Customers</a:t>
            </a:r>
            <a:br>
              <a:rPr lang="en-US" sz="1200" dirty="0"/>
            </a:br>
            <a:r>
              <a:rPr lang="en-US" sz="1200" dirty="0"/>
              <a:t>Implement targeted win-back campaigns with relevant products and incentives.</a:t>
            </a:r>
          </a:p>
          <a:p>
            <a:pPr>
              <a:buNone/>
            </a:pPr>
            <a:r>
              <a:rPr lang="en-US" sz="1200" b="1" dirty="0"/>
              <a:t>4. Customer Retention</a:t>
            </a:r>
            <a:br>
              <a:rPr lang="en-US" sz="1200" dirty="0"/>
            </a:br>
            <a:r>
              <a:rPr lang="en-US" sz="1200" dirty="0"/>
              <a:t>Monitor cohort retention regularly to identify early engagement decline.</a:t>
            </a:r>
          </a:p>
          <a:p>
            <a:pPr>
              <a:buNone/>
            </a:pPr>
            <a:r>
              <a:rPr lang="en-US" sz="1200" b="1" dirty="0"/>
              <a:t>5. Management Monitoring</a:t>
            </a:r>
            <a:br>
              <a:rPr lang="en-US" sz="1200" dirty="0"/>
            </a:br>
            <a:r>
              <a:rPr lang="en-US" sz="1200" dirty="0"/>
              <a:t>Use the Power BI dashboard to track </a:t>
            </a:r>
            <a:r>
              <a:rPr lang="en-US" sz="1200" b="1" dirty="0"/>
              <a:t>Sales, Profit, RFM, Churn, Region, Category, and Time-based KPIs</a:t>
            </a:r>
            <a:r>
              <a:rPr lang="en-US" sz="1200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438D8F-C5D1-574D-9EE6-2105FF877D5B}"/>
              </a:ext>
            </a:extLst>
          </p:cNvPr>
          <p:cNvSpPr txBox="1"/>
          <p:nvPr/>
        </p:nvSpPr>
        <p:spPr>
          <a:xfrm>
            <a:off x="320777" y="573010"/>
            <a:ext cx="48706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Cohort Retention Analysis</a:t>
            </a:r>
          </a:p>
          <a:p>
            <a:pPr>
              <a:buNone/>
            </a:pPr>
            <a:endParaRPr lang="en-US" sz="16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Customers were grouped according to their </a:t>
            </a:r>
            <a:r>
              <a:rPr lang="en-US" sz="1400" b="1" dirty="0"/>
              <a:t>first purchase month</a:t>
            </a:r>
            <a:r>
              <a:rPr lang="en-US" sz="1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Retention was tracked across subsequent months.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Month 1 is 100% by cohort definition.</a:t>
            </a:r>
            <a:r>
              <a:rPr lang="en-US" sz="1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Retention generally decreases as customers move further from their first purchase.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The Power BI cohort table helps identify periods where customer engagement declines.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1F0F4F-BB96-4D23-6783-29E0645C072D}"/>
              </a:ext>
            </a:extLst>
          </p:cNvPr>
          <p:cNvSpPr txBox="1"/>
          <p:nvPr/>
        </p:nvSpPr>
        <p:spPr>
          <a:xfrm>
            <a:off x="6093542" y="570833"/>
            <a:ext cx="60984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Churn Prediction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400" dirty="0"/>
              <a:t>A </a:t>
            </a:r>
            <a:r>
              <a:rPr lang="en-US" sz="1400" b="1" dirty="0"/>
              <a:t>historical cutoff of October 1, 2017</a:t>
            </a:r>
            <a:r>
              <a:rPr lang="en-US" sz="1400" dirty="0"/>
              <a:t> was used to avoid target leakage.</a:t>
            </a:r>
          </a:p>
          <a:p>
            <a:pPr>
              <a:buNone/>
            </a:pPr>
            <a:endParaRPr lang="en-US" sz="1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Historical customer behavior was used to calculate </a:t>
            </a:r>
            <a:r>
              <a:rPr lang="en-US" sz="1400" b="1" dirty="0"/>
              <a:t>Recency, Frequency, Monetary, Average Order Value, and Total Quantity</a:t>
            </a:r>
            <a:r>
              <a:rPr lang="en-US" sz="1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Churn was defined as </a:t>
            </a:r>
            <a:r>
              <a:rPr lang="en-US" sz="1400" b="1" dirty="0"/>
              <a:t>no purchase during the following 90 days</a:t>
            </a:r>
            <a:r>
              <a:rPr lang="en-US" sz="1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357 customers (45.19%)</a:t>
            </a:r>
            <a:r>
              <a:rPr lang="en-US" sz="1400" dirty="0"/>
              <a:t> were classified as churned.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433 customers (54.81%)</a:t>
            </a:r>
            <a:r>
              <a:rPr lang="en-US" sz="1400" dirty="0"/>
              <a:t> were not churned.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A </a:t>
            </a:r>
            <a:r>
              <a:rPr lang="en-US" sz="1400" b="1" dirty="0"/>
              <a:t>Decision Tree Classifier</a:t>
            </a:r>
            <a:r>
              <a:rPr lang="en-US" sz="1400" dirty="0"/>
              <a:t> was used for churn prediction.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397</Words>
  <Application>Microsoft Office PowerPoint</Application>
  <PresentationFormat>Widescreen</PresentationFormat>
  <Paragraphs>60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Cambria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VIKRAM K.S.K</cp:lastModifiedBy>
  <cp:revision>2</cp:revision>
  <dcterms:created xsi:type="dcterms:W3CDTF">2026-09-06T08:40:58Z</dcterms:created>
  <dcterms:modified xsi:type="dcterms:W3CDTF">2026-09-06T09:32:41Z</dcterms:modified>
</cp:coreProperties>
</file>